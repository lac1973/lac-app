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14287500" cx="11430000"/>
  <p:notesSz cx="14287500" cy="11430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-6412"/>
            <a:ext cx="11430000" cy="1141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305050" y="474345"/>
            <a:ext cx="6753797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A1A1A"/>
                </a:solidFill>
              </a:rPr>
              <a:t>Recibo de Créditos Solares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305050" y="824865"/>
            <a:ext cx="6753797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611C"/>
                </a:solidFill>
                <a:latin typeface="Arial"/>
                <a:ea typeface="Arial"/>
                <a:cs typeface="Arial"/>
                <a:sym typeface="Arial"/>
              </a:rPr>
              <a:t>Nº 000000126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305050" y="1080135"/>
            <a:ext cx="75735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305050" y="1194435"/>
            <a:ext cx="757357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AGO/26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329107" y="1080135"/>
            <a:ext cx="77295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VENCIMENTO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329107" y="1194435"/>
            <a:ext cx="772954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05/09/2026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368760" y="1080135"/>
            <a:ext cx="74366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EMISSÃO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368760" y="1194435"/>
            <a:ext cx="743664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01/08/2026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673465" y="457200"/>
            <a:ext cx="2299335" cy="914400"/>
          </a:xfrm>
          <a:prstGeom prst="roundRect">
            <a:avLst>
              <a:gd fmla="val 4167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027129" y="647700"/>
            <a:ext cx="1725359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027129" y="777240"/>
            <a:ext cx="1725359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821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3821F"/>
                </a:solidFill>
                <a:latin typeface="Arial"/>
                <a:ea typeface="Arial"/>
                <a:cs typeface="Arial"/>
                <a:sym typeface="Arial"/>
              </a:rPr>
              <a:t>R$ 177,80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1638300"/>
            <a:ext cx="3378160" cy="1850231"/>
          </a:xfrm>
          <a:prstGeom prst="roundRect">
            <a:avLst>
              <a:gd fmla="val 3089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36270" y="1817370"/>
            <a:ext cx="332202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8611C"/>
                </a:solidFill>
                <a:latin typeface="Arial"/>
                <a:ea typeface="Arial"/>
                <a:cs typeface="Arial"/>
                <a:sym typeface="Arial"/>
              </a:rPr>
              <a:t>PRODUTOR ENERGÉTICO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36270" y="2080260"/>
            <a:ext cx="3322022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LAC Solar Ltda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36270" y="2297430"/>
            <a:ext cx="3110621" cy="1050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7569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CNPJ: </a:t>
            </a:r>
            <a:r>
              <a:rPr lang="en-US" sz="938">
                <a:solidFill>
                  <a:srgbClr val="444444"/>
                </a:solidFill>
              </a:rPr>
              <a:t>18.822.801/0001-06</a:t>
            </a:r>
            <a:b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938">
                <a:solidFill>
                  <a:srgbClr val="444444"/>
                </a:solidFill>
              </a:rPr>
              <a:t>ereço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938">
                <a:solidFill>
                  <a:srgbClr val="444444"/>
                </a:solidFill>
              </a:rPr>
              <a:t>Av. Bosque da Saúde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38">
                <a:solidFill>
                  <a:srgbClr val="444444"/>
                </a:solidFill>
              </a:rPr>
              <a:t>900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38">
                <a:solidFill>
                  <a:srgbClr val="444444"/>
                </a:solidFill>
              </a:rPr>
              <a:t>| 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Bairro </a:t>
            </a:r>
            <a:r>
              <a:rPr lang="en-US" sz="938">
                <a:solidFill>
                  <a:srgbClr val="444444"/>
                </a:solidFill>
              </a:rPr>
              <a:t>Bosque da Saúde 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- Cuiabá/MT </a:t>
            </a:r>
            <a:b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CEP: 780</a:t>
            </a:r>
            <a:r>
              <a:rPr lang="en-US" sz="938">
                <a:solidFill>
                  <a:srgbClr val="444444"/>
                </a:solidFill>
              </a:rPr>
              <a:t>5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0-0</a:t>
            </a:r>
            <a:r>
              <a:rPr lang="en-US" sz="938">
                <a:solidFill>
                  <a:srgbClr val="444444"/>
                </a:solidFill>
              </a:rPr>
              <a:t>7</a:t>
            </a: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025860" y="1638300"/>
            <a:ext cx="3378160" cy="1850231"/>
          </a:xfrm>
          <a:prstGeom prst="roundRect">
            <a:avLst>
              <a:gd fmla="val 3089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204930" y="1817370"/>
            <a:ext cx="332202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8611C"/>
                </a:solidFill>
                <a:latin typeface="Arial"/>
                <a:ea typeface="Arial"/>
                <a:cs typeface="Arial"/>
                <a:sym typeface="Arial"/>
              </a:rPr>
              <a:t>RECEBEDOR ENERGÉTICO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204930" y="2080260"/>
            <a:ext cx="3322022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Mauro Nascimento Braga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204930" y="2297430"/>
            <a:ext cx="311062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7569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CPF: 110.190.771-15 </a:t>
            </a:r>
            <a:b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End.: Av. das Torres, 456 Poste 3 Cuiabá/MT - CEP: 78000-000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594521" y="1638300"/>
            <a:ext cx="3378280" cy="1850231"/>
          </a:xfrm>
          <a:prstGeom prst="roundRect">
            <a:avLst>
              <a:gd fmla="val 3089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773591" y="1817370"/>
            <a:ext cx="15268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Valor contratado do kWh: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0359985" y="1817370"/>
            <a:ext cx="50994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R$ 0,70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773591" y="2057400"/>
            <a:ext cx="3020139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773591" y="2162175"/>
            <a:ext cx="17945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Quantidade injetada em kWh: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0587038" y="2162175"/>
            <a:ext cx="28289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254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773591" y="2402205"/>
            <a:ext cx="3020139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773591" y="2526030"/>
            <a:ext cx="2174212" cy="14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55555"/>
                </a:solidFill>
              </a:rPr>
              <a:t>Valor do Recibo (Consumo X Valor contratado)</a:t>
            </a:r>
            <a:endParaRPr b="1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0222231" y="2506980"/>
            <a:ext cx="6477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C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E8611C"/>
                </a:solidFill>
                <a:latin typeface="Arial"/>
                <a:ea typeface="Arial"/>
                <a:cs typeface="Arial"/>
                <a:sym typeface="Arial"/>
              </a:rPr>
              <a:t>R$ 177,80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773591" y="2747010"/>
            <a:ext cx="3020139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3755231"/>
            <a:ext cx="115671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DADOS DA LEITURA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4025750"/>
            <a:ext cx="9513900" cy="32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71500" y="4120991"/>
            <a:ext cx="2362319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da UC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048119" y="4120991"/>
            <a:ext cx="931664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Nº da UC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132183" y="4120991"/>
            <a:ext cx="1051084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Inicial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335667" y="4120991"/>
            <a:ext cx="979051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Final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67118" y="4120991"/>
            <a:ext cx="1226463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Consumo (kWh)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845981" y="4120991"/>
            <a:ext cx="1018937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kWh Injetado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017318" y="4120991"/>
            <a:ext cx="877729" cy="1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Saldo ACM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4677246"/>
            <a:ext cx="9513900" cy="61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71500" y="4448651"/>
            <a:ext cx="2362319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Mauro Nascimento Braga (poste 3)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048119" y="4448651"/>
            <a:ext cx="931664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6/4754860-7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132183" y="4448651"/>
            <a:ext cx="1051084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868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335667" y="4448651"/>
            <a:ext cx="979051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1.122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67118" y="4448651"/>
            <a:ext cx="1226463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254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845981" y="4448651"/>
            <a:ext cx="1018937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254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017318" y="4448651"/>
            <a:ext cx="877729" cy="17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2.807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4955381"/>
            <a:ext cx="5835848" cy="1706880"/>
          </a:xfrm>
          <a:prstGeom prst="roundRect">
            <a:avLst>
              <a:gd fmla="val 3348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36270" y="5134451"/>
            <a:ext cx="6025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A1A1A"/>
                </a:solidFill>
              </a:rPr>
              <a:t>Histórico de Energia Injetada em kWh: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9844" y="5511641"/>
            <a:ext cx="2511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198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2580" y="5683091"/>
            <a:ext cx="209550" cy="628650"/>
          </a:xfrm>
          <a:custGeom>
            <a:rect b="b" l="l" r="r" t="t"/>
            <a:pathLst>
              <a:path extrusionOk="0" h="628650" w="209550">
                <a:moveTo>
                  <a:pt x="28575" y="0"/>
                </a:moveTo>
                <a:lnTo>
                  <a:pt x="180975" y="0"/>
                </a:lnTo>
                <a:cubicBezTo>
                  <a:pt x="188554" y="0"/>
                  <a:pt x="195822" y="3011"/>
                  <a:pt x="201181" y="8369"/>
                </a:cubicBezTo>
                <a:cubicBezTo>
                  <a:pt x="206539" y="13728"/>
                  <a:pt x="209550" y="20996"/>
                  <a:pt x="209550" y="28575"/>
                </a:cubicBezTo>
                <a:lnTo>
                  <a:pt x="209550" y="628650"/>
                </a:lnTo>
                <a:lnTo>
                  <a:pt x="0" y="628650"/>
                </a:ln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38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36270" y="6368891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8"/>
              <a:buFont typeface="Arial"/>
              <a:buNone/>
            </a:pPr>
            <a:r>
              <a:rPr b="0" i="0" lang="en-US" sz="788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90005" y="5454491"/>
            <a:ext cx="2511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215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72741" y="5625941"/>
            <a:ext cx="209550" cy="685800"/>
          </a:xfrm>
          <a:custGeom>
            <a:rect b="b" l="l" r="r" t="t"/>
            <a:pathLst>
              <a:path extrusionOk="0" h="685800" w="209550">
                <a:moveTo>
                  <a:pt x="28575" y="0"/>
                </a:moveTo>
                <a:lnTo>
                  <a:pt x="180975" y="0"/>
                </a:lnTo>
                <a:cubicBezTo>
                  <a:pt x="188554" y="0"/>
                  <a:pt x="195822" y="3011"/>
                  <a:pt x="201181" y="8369"/>
                </a:cubicBezTo>
                <a:cubicBezTo>
                  <a:pt x="206539" y="13728"/>
                  <a:pt x="209550" y="20996"/>
                  <a:pt x="209550" y="28575"/>
                </a:cubicBezTo>
                <a:lnTo>
                  <a:pt x="209550" y="685800"/>
                </a:lnTo>
                <a:lnTo>
                  <a:pt x="0" y="685800"/>
                </a:ln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38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74646" y="6368891"/>
            <a:ext cx="28182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8"/>
              <a:buFont typeface="Arial"/>
              <a:buNone/>
            </a:pPr>
            <a:r>
              <a:rPr b="0" i="0" lang="en-US" sz="788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ABR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313855" y="5435441"/>
            <a:ext cx="2511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230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296591" y="5606891"/>
            <a:ext cx="209550" cy="704850"/>
          </a:xfrm>
          <a:custGeom>
            <a:rect b="b" l="l" r="r" t="t"/>
            <a:pathLst>
              <a:path extrusionOk="0" h="704850" w="209550">
                <a:moveTo>
                  <a:pt x="28575" y="0"/>
                </a:moveTo>
                <a:lnTo>
                  <a:pt x="180975" y="0"/>
                </a:lnTo>
                <a:cubicBezTo>
                  <a:pt x="188554" y="0"/>
                  <a:pt x="195822" y="3011"/>
                  <a:pt x="201181" y="8369"/>
                </a:cubicBezTo>
                <a:cubicBezTo>
                  <a:pt x="206539" y="13728"/>
                  <a:pt x="209550" y="20996"/>
                  <a:pt x="209550" y="28575"/>
                </a:cubicBezTo>
                <a:lnTo>
                  <a:pt x="209550" y="704850"/>
                </a:lnTo>
                <a:lnTo>
                  <a:pt x="0" y="704850"/>
                </a:ln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38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312426" y="6368891"/>
            <a:ext cx="2539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8"/>
              <a:buFont typeface="Arial"/>
              <a:buNone/>
            </a:pPr>
            <a:r>
              <a:rPr b="0" i="0" lang="en-US" sz="788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637705" y="5435441"/>
            <a:ext cx="2511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245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620441" y="5606891"/>
            <a:ext cx="209550" cy="704850"/>
          </a:xfrm>
          <a:custGeom>
            <a:rect b="b" l="l" r="r" t="t"/>
            <a:pathLst>
              <a:path extrusionOk="0" h="704850" w="209550">
                <a:moveTo>
                  <a:pt x="28575" y="0"/>
                </a:moveTo>
                <a:lnTo>
                  <a:pt x="180975" y="0"/>
                </a:lnTo>
                <a:cubicBezTo>
                  <a:pt x="188554" y="0"/>
                  <a:pt x="195822" y="3011"/>
                  <a:pt x="201181" y="8369"/>
                </a:cubicBezTo>
                <a:cubicBezTo>
                  <a:pt x="206539" y="13728"/>
                  <a:pt x="209550" y="20996"/>
                  <a:pt x="209550" y="28575"/>
                </a:cubicBezTo>
                <a:lnTo>
                  <a:pt x="209550" y="704850"/>
                </a:lnTo>
                <a:lnTo>
                  <a:pt x="0" y="704850"/>
                </a:ln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38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627942" y="6368891"/>
            <a:ext cx="2706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8"/>
              <a:buFont typeface="Arial"/>
              <a:buNone/>
            </a:pPr>
            <a:r>
              <a:rPr b="0" i="0" lang="en-US" sz="788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JUN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961555" y="5435441"/>
            <a:ext cx="2511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260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944291" y="5606891"/>
            <a:ext cx="209550" cy="704850"/>
          </a:xfrm>
          <a:custGeom>
            <a:rect b="b" l="l" r="r" t="t"/>
            <a:pathLst>
              <a:path extrusionOk="0" h="704850" w="209550">
                <a:moveTo>
                  <a:pt x="28575" y="0"/>
                </a:moveTo>
                <a:lnTo>
                  <a:pt x="180975" y="0"/>
                </a:lnTo>
                <a:cubicBezTo>
                  <a:pt x="188554" y="0"/>
                  <a:pt x="195822" y="3011"/>
                  <a:pt x="201181" y="8369"/>
                </a:cubicBezTo>
                <a:cubicBezTo>
                  <a:pt x="206539" y="13728"/>
                  <a:pt x="209550" y="20996"/>
                  <a:pt x="209550" y="28575"/>
                </a:cubicBezTo>
                <a:lnTo>
                  <a:pt x="209550" y="704850"/>
                </a:lnTo>
                <a:lnTo>
                  <a:pt x="0" y="704850"/>
                </a:ln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38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960126" y="6368891"/>
            <a:ext cx="25407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8"/>
              <a:buFont typeface="Arial"/>
              <a:buNone/>
            </a:pPr>
            <a:r>
              <a:rPr b="0" i="0" lang="en-US" sz="788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JUL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291834" y="5435441"/>
            <a:ext cx="25110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254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274451" y="5606891"/>
            <a:ext cx="209550" cy="704850"/>
          </a:xfrm>
          <a:custGeom>
            <a:rect b="b" l="l" r="r" t="t"/>
            <a:pathLst>
              <a:path extrusionOk="0" h="704850" w="209550">
                <a:moveTo>
                  <a:pt x="28575" y="0"/>
                </a:moveTo>
                <a:lnTo>
                  <a:pt x="180975" y="0"/>
                </a:lnTo>
                <a:cubicBezTo>
                  <a:pt x="188554" y="0"/>
                  <a:pt x="195822" y="3011"/>
                  <a:pt x="201181" y="8369"/>
                </a:cubicBezTo>
                <a:cubicBezTo>
                  <a:pt x="206539" y="13728"/>
                  <a:pt x="209550" y="20996"/>
                  <a:pt x="209550" y="28575"/>
                </a:cubicBezTo>
                <a:lnTo>
                  <a:pt x="209550" y="704850"/>
                </a:lnTo>
                <a:lnTo>
                  <a:pt x="0" y="704850"/>
                </a:ln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61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268141" y="6368891"/>
            <a:ext cx="29849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8"/>
              <a:buFont typeface="Arial"/>
              <a:buNone/>
            </a:pPr>
            <a:r>
              <a:rPr b="0" i="0" lang="en-US" sz="788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AGO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131409" y="5481485"/>
            <a:ext cx="883800" cy="883800"/>
          </a:xfrm>
          <a:prstGeom prst="ellipse">
            <a:avLst/>
          </a:prstGeom>
          <a:noFill/>
          <a:ln cap="flat" cmpd="sng" w="22850">
            <a:solidFill>
              <a:srgbClr val="F3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396525" y="5671460"/>
            <a:ext cx="3813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254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330306" y="5891144"/>
            <a:ext cx="443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kWh Consumo no mês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483548" y="4955381"/>
            <a:ext cx="4489133" cy="1706880"/>
          </a:xfrm>
          <a:prstGeom prst="roundRect">
            <a:avLst>
              <a:gd fmla="val 3348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662618" y="5134451"/>
            <a:ext cx="454409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8611C"/>
                </a:solidFill>
                <a:latin typeface="Arial"/>
                <a:ea typeface="Arial"/>
                <a:cs typeface="Arial"/>
                <a:sym typeface="Arial"/>
              </a:rPr>
              <a:t>SOBRE SUA FATURA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662618" y="5397341"/>
            <a:ext cx="425492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Você está gerando um futuro mais sustentável com a LAC Solar! Continue acompanhando seu consumo e veja como a energia solar transforma economia em qualidade de vida.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175" y="6854452"/>
            <a:ext cx="5835900" cy="2621700"/>
          </a:xfrm>
          <a:prstGeom prst="roundRect">
            <a:avLst>
              <a:gd fmla="val 1693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36270" y="7108031"/>
            <a:ext cx="6025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DADOS PARA PAGAMENTO / QUITAÇÃO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36270" y="7409022"/>
            <a:ext cx="6025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Banco: </a:t>
            </a:r>
            <a:r>
              <a:rPr b="1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ITAÚ </a:t>
            </a: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Agência: </a:t>
            </a:r>
            <a:r>
              <a:rPr b="1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1356 </a:t>
            </a: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 Corrente: </a:t>
            </a:r>
            <a:r>
              <a:rPr b="1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99198-2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36270" y="7687151"/>
            <a:ext cx="6025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PIX Celular: </a:t>
            </a:r>
            <a:r>
              <a:rPr b="1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65999211041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36270" y="7965281"/>
            <a:ext cx="6025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Favorecido: </a:t>
            </a:r>
            <a:r>
              <a:rPr b="1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LAC Concursos/Inovação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36270" y="8243411"/>
            <a:ext cx="5477709" cy="400050"/>
          </a:xfrm>
          <a:prstGeom prst="roundRect">
            <a:avLst>
              <a:gd fmla="val 14286" name="adj"/>
            </a:avLst>
          </a:prstGeom>
          <a:solidFill>
            <a:srgbClr val="FDE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69620" y="8357711"/>
            <a:ext cx="537534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7A4A2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4A2A"/>
                </a:solidFill>
                <a:latin typeface="Arial"/>
                <a:ea typeface="Arial"/>
                <a:cs typeface="Arial"/>
                <a:sym typeface="Arial"/>
              </a:rPr>
              <a:t>Ao utilizar energia solar, você ajuda a reduzir emissões e promove um planeta mais limpo.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6270" y="8833961"/>
            <a:ext cx="6025480" cy="1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Cuiabá-MT, 01 de agosto de 2026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83548" y="6928961"/>
            <a:ext cx="4489200" cy="3375600"/>
          </a:xfrm>
          <a:prstGeom prst="roundRect">
            <a:avLst>
              <a:gd fmla="val 1693" name="adj"/>
            </a:avLst>
          </a:prstGeom>
          <a:noFill/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662618" y="7108031"/>
            <a:ext cx="454409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8611C"/>
                </a:solidFill>
                <a:latin typeface="Arial"/>
                <a:ea typeface="Arial"/>
                <a:cs typeface="Arial"/>
                <a:sym typeface="Arial"/>
              </a:rPr>
              <a:t>PAGUE COM PIX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662618" y="7389972"/>
            <a:ext cx="311687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207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38"/>
              <a:buFont typeface="Arial"/>
              <a:buNone/>
            </a:pPr>
            <a:r>
              <a:rPr b="0" i="0" lang="en-US" sz="93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Escaneie o QR Code ao lado e pague sua fatura com rapidez e segurança.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627893" y="9550697"/>
            <a:ext cx="45441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Ou copie a chave PIX: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10571321"/>
            <a:ext cx="10515600" cy="388620"/>
          </a:xfrm>
          <a:prstGeom prst="roundRect">
            <a:avLst>
              <a:gd fmla="val 9804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353191" y="10712271"/>
            <a:ext cx="10564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3"/>
              <a:buFont typeface="Arial"/>
              <a:buNone/>
            </a:pPr>
            <a:r>
              <a:rPr b="0" i="0" lang="en-US" sz="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LAC SOLAR LTDA – CNPJ: </a:t>
            </a:r>
            <a:r>
              <a:rPr lang="en-US" sz="938">
                <a:solidFill>
                  <a:schemeClr val="lt1"/>
                </a:solidFill>
              </a:rPr>
              <a:t>18.822.801/0001-06</a:t>
            </a:r>
            <a:r>
              <a:rPr b="0" i="0" lang="en-US" sz="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038">
                <a:solidFill>
                  <a:schemeClr val="lt1"/>
                </a:solidFill>
              </a:rPr>
              <a:t>Av. Bosque da Saúde, 900 | Bairro Bosque da Saúde - Cuiabá/MT CEP: 78050-070</a:t>
            </a:r>
            <a:endParaRPr sz="103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3"/>
              <a:buFont typeface="Arial"/>
              <a:buNone/>
            </a:pPr>
            <a:r>
              <a:t/>
            </a:r>
            <a:endParaRPr sz="863">
              <a:solidFill>
                <a:srgbClr val="FFFFFF"/>
              </a:solidFill>
            </a:endParaRPr>
          </a:p>
        </p:txBody>
      </p:sp>
      <p:pic>
        <p:nvPicPr>
          <p:cNvPr id="103" name="Google Shape;103;p3" title="logo_lac_SOLAR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25" y="137875"/>
            <a:ext cx="1758700" cy="138609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6662618" y="9794086"/>
            <a:ext cx="4131000" cy="335400"/>
          </a:xfrm>
          <a:prstGeom prst="roundRect">
            <a:avLst>
              <a:gd fmla="val 1704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734003" y="9889336"/>
            <a:ext cx="3988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65999211041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